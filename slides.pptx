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6366F1"/>
                </a:solidFill>
                <a:latin typeface="Plus Jakarta Sans"/>
              </a:defRPr>
            </a:pPr>
            <a:r>
              <a:t>Introduction to WebAR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  <a:latin typeface="Plus Jakarta Sans"/>
              </a:defRPr>
            </a:pPr>
            <a:r>
              <a:t>Building an Image-Tracked Video Overlay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A Step-by-Step Educational Curriculum for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AR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What is WebAR? Core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1. WebRTC (Webcam Feed Access)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The browser requests secure camera permissions from the mobile device using the 'getUserMedia' API to render a live camera stream on the page.</a:t>
            </a:r>
          </a:p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2. Computer Vision (MindAR Engine)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The tracking engine scans each frames of the webcam feed. It searches for high-contrast feature anchors (corners, edges) matching the pre-compiled target signature (.mind file).</a:t>
            </a:r>
          </a:p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3. WebGL / 3D Rendering (A-Frame)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Once the target card is found, A-Frame (built on Three.js) projects virtual 3D elements (like an overlay video plane) onto the tracked 3D space coordinates, matching its position and rotation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FILE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Project File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📁 assets/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Contains static tracking targets and video assets:</a:t>
            </a:r>
            <a:br/>
            <a:r>
              <a:t>• card.png: Printable physical target image.</a:t>
            </a:r>
            <a:br/>
            <a:r>
              <a:t>• card.mind: Compiled feature anchor signature.</a:t>
            </a:r>
            <a:br/>
            <a:r>
              <a:t>• video.mp4: Video plane overlay media file.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📄 index.html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The main WebAR application scanner file. Consolidates A-Frame configuration, HTML overlays, CSS styles, and tracking logic in a single readable document.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📄 preview.html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Utility target page display that lets students view and print the reference card for target tracking.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📄 server.js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Minimal local Node.js server. Configured to run secure local HTTPS (port 3030) allowing mobile camera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75488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38BDF8"/>
                </a:solidFill>
                <a:latin typeface="Courier New"/>
              </a:defRPr>
            </a:pPr>
            <a:r>
              <a:t>webar-video-demo/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assets/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│   ├── card.mind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│   ├── card.png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│   └── video.mp4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index.html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preview.html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server.js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package.json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├── cert.pem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└── key.pem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APPLICATION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WebAR App Onboarding &amp; Start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The Onboarding Overlay: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Since modern browsers restrict autoplaying media and camera feeds before a user gesture, we display an onboarding start screen first. Clicking 'Start Camera' triggers the permissions modal and primes the video player in the background.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Clean UI Overlays: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All overlays (header status, visual dashed frame guides, status toast, and volume toggle buttons) are styled as floating absolute elements on top of the A-Frame camera canvas.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Viewport-Relative Locking: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By positioning elements using CSS absolute/fixed layouts, the interface remains perfectly locked in place even when native scrolling is allowed.</a:t>
            </a:r>
          </a:p>
        </p:txBody>
      </p:sp>
      <p:pic>
        <p:nvPicPr>
          <p:cNvPr id="5" name="Picture 4" descr="screenshot_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384048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5720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Plus Jakarta Sans"/>
              </a:defRPr>
            </a:pPr>
            <a:r>
              <a:t>Desktop Onboarding</a:t>
            </a:r>
          </a:p>
        </p:txBody>
      </p:sp>
      <p:pic>
        <p:nvPicPr>
          <p:cNvPr id="7" name="Picture 6" descr="screenshot_mobile_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645920"/>
            <a:ext cx="2011680" cy="4352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18320" y="6035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Plus Jakarta Sans"/>
              </a:defRPr>
            </a:pPr>
            <a:r>
              <a:t>Mobile Onboarding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APPLICATION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Active Tracking &amp; Scanning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Live Camera Stream View: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Once permissions are granted, the active WebRTC camera feed starts streaming. The custom mock camera feed generates a rotating color wheel pattern in local simulated tests.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Interactive Scanning Guide Frame: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A dashed rectangular container guides students where to align the target card. It uses fluid CSS parameters to scale dynamically on mobile screens.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Status Toast Notification: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Floating dynamically at the top center of the viewport, a toast card reads 'Looking for target...' or displays tracking feedback context in real time.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Fixed Volume Toggle Button: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Instagram-inspired floating volume indicators show whether the target video's audio track is currently muted or unmuted.</a:t>
            </a:r>
          </a:p>
        </p:txBody>
      </p:sp>
      <p:pic>
        <p:nvPicPr>
          <p:cNvPr id="5" name="Picture 4" descr="screenshot_mobile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0"/>
            <a:ext cx="2011680" cy="435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6035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Plus Jakarta Sans"/>
              </a:defRPr>
            </a:pPr>
            <a:r>
              <a:t>Mobile Camera Active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Coding the AR Scene: Imports &amp;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1. Importing Libraries: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We load A-Frame (3D positioning wrapper) and the MindAR image-tracking extension to enable browser-based AR processing.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2. Setting up the Scene Container: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The &lt;a-scene&gt; tag acts as the main 3D scene container. MindAR is attached as an attribute parameter.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3. Key Properties: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• imageTargetSrc: points to the compiled card.mind anchors.</a:t>
            </a:r>
            <a:br/>
            <a:r>
              <a:t>• autoStart: false (prevents camera from starting before click).</a:t>
            </a:r>
            <a:br/>
            <a:r>
              <a:t>• filterMinCF / filterBeta: configures tracking sensitivity to reduce video overlay jitter.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645920"/>
            <a:ext cx="576072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&lt;!-- 1. Import Libraries --&gt;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&lt;script src="aframe.min.js"&gt;&lt;/script&gt;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&lt;script src="mindar-image-aframe.js"&gt;&lt;/script&gt;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&lt;!-- 2. Main AR Scene Container --&gt;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&lt;a-scene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id="ar-scene"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mindar-image="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imageTargetSrc: assets/card.mind;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autoStart: false;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filterMinCF: 0.0001;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filterBeta: 0.001;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uiScanning: no;"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embedded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vr-mode-ui="enabled: false"&gt;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...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&lt;/a-scene&gt;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Asset Preloading &amp; Video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1. Asset Preloading (&lt;a-assets&gt;):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Preloads large media assets in system memory before WebGL starts to guarantee lag-free insertion.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2. Crucial Autoplay Attributes: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• playsinline &amp; webkit-playsinline: Force the video to render inside the page flow on iPhones, avoiding full-screen Apple media player takeovers.</a:t>
            </a:r>
            <a:br/>
            <a:r>
              <a:t>• loop muted: Necessary parameters to bypass browser autoplay blocks.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3. The Tracking Entity: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&lt;a-entity mindar-image-target="targetIndex: 0"&gt; anchors the overlay plane. When MindAR detects the card, this entity mirrors its coordinates dynamically.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645920"/>
            <a:ext cx="57607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&lt;a-assets&gt;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&lt;!-- Muted video is preloaded --&gt;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&lt;video id="ar-video"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src="assets/video.mp4"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preload="auto" autoplay loop muted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playsinline webkit-playsinline&gt;&lt;/video&gt;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&lt;/a-assets&gt;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&lt;!-- Camera viewport --&gt;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&lt;a-camera position="0 0 0"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 look-controls="enabled: false"&gt;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&lt;/a-camera&gt;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&lt;!-- Target coordinates anchor index 0 --&gt;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&lt;a-entity mindar-image-target="targetIndex: 0"&gt;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&lt;a-video src="#ar-video" width="1.4"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     height="0.7875" scale="1.2 1.2 1"&gt;&lt;/a-video&gt;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&lt;/a-entity&gt;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TESTING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Mobile WebRTC: Secure Connections (HTTPS)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🛡️ WebRTC Security Model (getUserMedia)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Web browsers strictly block webcam streams from running unless the page is loaded over a fully secure HTTPS connection (or localhost on desktop).</a:t>
            </a:r>
          </a:p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📱 Connecting Your Phone to a Local Server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To test the application on your physical mobile device, the device must connect to your computer's local network server. The server runs a dual-port node instance printing the direct local IP URL, e.g. https://192.168.1.178:3030.</a:t>
            </a:r>
          </a:p>
          <a:p>
            <a:pPr>
              <a:spcBef>
                <a:spcPts val="1500"/>
              </a:spcBef>
              <a:defRPr sz="1800" b="1">
                <a:solidFill>
                  <a:srgbClr val="6366F1"/>
                </a:solidFill>
                <a:latin typeface="Plus Jakarta Sans"/>
              </a:defRPr>
            </a:pPr>
            <a:r>
              <a:t>⚠️ Bypassing Self-Signed SSL Warnings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Plus Jakarta Sans"/>
              </a:defRPr>
            </a:pPr>
            <a:r>
              <a:t>Because local HTTPS uses a self-signed developer certificate, mobile browsers display a warning page on load. This is safe to bypass:</a:t>
            </a:r>
            <a:br/>
            <a:r>
              <a:t>• iOS Safari: Tap 'Show Details' -&gt; Tap 'visit this website' at the bottom -&gt; Tap 'Visit Website'.</a:t>
            </a:r>
            <a:br/>
            <a:r>
              <a:t>• Android Chrome: Tap 'Advanced' -&gt; Tap 'Proceed to &lt;IP&gt; (unsafe)'.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UX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Tab Focus Recovery &amp; Native Refresh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📲 Native Pull-to-Refresh on WebAR Pages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Usually, full-screen WebAR applications use 'overflow: hidden' to prevent scroll shifting, which blocks the mobile browser's native drag-down-to-reload gesture.</a:t>
            </a:r>
            <a:br/>
            <a:r>
              <a:t>By changing the CSS parameters to overflow-y: auto, we restore native browser reload support. Since our UI overlays are styled using fixed/absolute coordinates, the layout stays pinned, letting users refresh the camera feed without alignment glitches.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⚡ Solving Scene Race Conditions (A-Frame 'loaded' Event)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When refreshing the page, starting the camera tracker immediately can fail if the tracking engine is not fully loaded yet. By wrapping the autostart logic inside an A-Frame scene 'loaded' event listener, we guarantee the camera starts successfully every time on refresh.</a:t>
            </a:r>
          </a:p>
          <a:p>
            <a:pPr>
              <a:spcBef>
                <a:spcPts val="12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🔄 Visibility Recovery (Tab Switching &amp; Phone Sleep)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If you switch tabs or lock your phone, iOS and Android suspend active webcam capture streams.</a:t>
            </a:r>
            <a:br/>
            <a:r>
              <a:t>We add a listener to the 'visibilitychange' event. When the user returns to the tab, the system automatically shuts down the stalled stream and requests a fresh, active camera capture.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MEDIA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Autoplay Bypass &amp; Instagram-Style Sound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Bypassing Autoplay Restrictions: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Mobile browsers block videos from playing automatically if they have sound. To build a seamless AR experience where the video starts immediately when the card is scanned, the video element MUST have the 'muted' attribute.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Instagram-Style Screen Taps: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To let students unmute the video overlay easily, we attach a page-wide click listener. Clicking anywhere on the camera canvas toggles between muted and unmuted playback.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Visual pop-up indicators: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When unmuting, a circular speaker status icon flashes in the center of the viewport for 600ms before fading away, matching Instagram's native video layout.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645920"/>
            <a:ext cx="576072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>
                <a:solidFill>
                  <a:srgbClr val="38BDF8"/>
                </a:solidFill>
                <a:latin typeface="Courier New"/>
              </a:defRPr>
            </a:pPr>
            <a:r>
              <a:t>// Toggle mute state and center sound flash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const toggleMuteState = () =&gt;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if (arVideo.muted)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arVideo.muted = false;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muteIcon.innerHTML = SPEAKER_UNMUTED_SVG;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soundFlashIcon.innerHTML = SPEAKER_UNMUTED_SVG;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} else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arVideo.muted = true;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muteIcon.innerHTML = SPEAKER_MUTED_SVG;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soundFlashIcon.innerHTML = SPEAKER_MUTED_SVG;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// Flash pop-up icon in center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soundFlash.classList.remove("show");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void soundFlash.offsetWidth; // force reflow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soundFlash.classList.add("show");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setTimeout(() =&gt;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soundFlash.classList.remove("show");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}, 600);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};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// Tap screen background to toggle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document.body.addEventListener("click", (e) =&gt; {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if (e.target.closest("#start-screen") ||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e.target.closest(".header") ||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e.target.closest("#mute-button")) return;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  toggleMuteState();</a:t>
            </a:r>
          </a:p>
          <a:p>
            <a:pPr>
              <a:defRPr sz="1100">
                <a:solidFill>
                  <a:srgbClr val="38BDF8"/>
                </a:solidFill>
                <a:latin typeface="Courier New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Plus Jakarta Sans"/>
              </a:defRPr>
            </a:pPr>
            <a:r>
              <a:t>TESTING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Plus Jakarta Sans"/>
              </a:defRPr>
            </a:pPr>
            <a:r>
              <a:t>Target Anchor Cards: preview.html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Target Cards Utility Page: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The preview.html page hosts the target card display and printing instructions so students can load it on their desktop monitor or print it out.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CSS Print Stylesheets (@media print):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To ensure printer ink is not wasted on dark Web UI colors and instructions, preview.html contains a print media query that hides all descriptions, guide corners, and buttons when printing, leaving only the exact target card.</a:t>
            </a:r>
          </a:p>
          <a:p>
            <a:pPr>
              <a:spcBef>
                <a:spcPts val="1500"/>
              </a:spcBef>
              <a:defRPr sz="1600" b="1">
                <a:solidFill>
                  <a:srgbClr val="6366F1"/>
                </a:solidFill>
                <a:latin typeface="Plus Jakarta Sans"/>
              </a:defRPr>
            </a:pPr>
            <a:r>
              <a:t>• Anchor Compilation: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Plus Jakarta Sans"/>
              </a:defRPr>
            </a:pPr>
            <a:r>
              <a:t>Explain to students that standard images must be pre-compiled into a mathematical feature anchor mapping (.mind) using hiukim's tool before use.</a:t>
            </a:r>
          </a:p>
        </p:txBody>
      </p:sp>
      <p:pic>
        <p:nvPicPr>
          <p:cNvPr id="5" name="Picture 4" descr="screensho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